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2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4BA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 i="0">
                <a:solidFill>
                  <a:srgbClr val="FFFFFF"/>
                </a:solidFill>
                <a:latin typeface="Segoe UI"/>
              </a:rPr>
              <a:t>Kordo.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Réseau social d'escalade indoor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3886200"/>
            <a:ext cx="114300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Soutenance · Projet de Fin d'Études ·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Jacinto Valentino — M2 Développement, cursus Tech Lead · ECV Paris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630936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CFE6DA"/>
                </a:solidFill>
                <a:latin typeface="Segoe UI"/>
              </a:rPr>
              <a:t>🖼  Fond : photo d'ambiance bloc indoor (optionnel)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Qui suis-je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2 / 21</a:t>
            </a:r>
          </a:p>
        </p:txBody>
      </p:sp>
      <p:pic>
        <p:nvPicPr>
          <p:cNvPr id="9" name="Picture 8" descr="m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50" y="2489808"/>
            <a:ext cx="1814297" cy="3222553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5943600" y="22860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F8F6B"/>
                </a:solidFill>
                <a:latin typeface="Segoe UI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28600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32323"/>
                </a:solidFill>
                <a:latin typeface="Segoe UI"/>
              </a:rPr>
              <a:t>Jacinto Valentino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9443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F8F6B"/>
                </a:solidFill>
                <a:latin typeface="Segoe UI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94436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32323"/>
                </a:solidFill>
                <a:latin typeface="Segoe UI"/>
              </a:rPr>
              <a:t>Étudiant M2 Développement à l'ECV Paris — cursus Tech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602735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F8F6B"/>
                </a:solidFill>
                <a:latin typeface="Segoe UI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602735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32323"/>
                </a:solidFill>
                <a:latin typeface="Segoe UI"/>
              </a:rPr>
              <a:t>Grimpeur depuis 2020 (post-Covid)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61103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F8F6B"/>
                </a:solidFill>
                <a:latin typeface="Segoe UI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61103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32323"/>
                </a:solidFill>
                <a:latin typeface="Segoe UI"/>
              </a:rPr>
              <a:t>Passionné d'escalade indoor et de produit 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91947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F8F6B"/>
                </a:solidFill>
                <a:latin typeface="Segoe UI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919471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32323"/>
                </a:solidFill>
                <a:latin typeface="Segoe UI"/>
              </a:rPr>
              <a:t>Kordo est né de ma propre pratique et de ses frustrations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57C1A7FA-69C9-46E7-CD89-D01138B8B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436905" y="2345672"/>
            <a:ext cx="3249984" cy="2166656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14000E0C-7147-1375-47F1-0F54900B8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903891" y="3471315"/>
            <a:ext cx="2876332" cy="19175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LE CONSTAT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Le problème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3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Segoe UI"/>
              </a:rPr>
              <a:t>Un grimpeur jongle entre 4 outils — aucun ne réunit tout.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E52"/>
                </a:solidFill>
                <a:latin typeface="Segoe UI"/>
              </a:rPr>
              <a:t>📸  Instagram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17520"/>
            <a:ext cx="217627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Pour partager ses sessions… mais aucune donnée d'escalade.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228600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9584" y="246888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E52"/>
                </a:solidFill>
                <a:latin typeface="Segoe UI"/>
              </a:rPr>
              <a:t>📊  Un tableur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3017520"/>
            <a:ext cx="217627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Pour suivre sa progression et ses blocs validés, à la main.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228600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246888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E52"/>
                </a:solidFill>
                <a:latin typeface="Segoe UI"/>
              </a:rPr>
              <a:t>💬  WhatsApp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017520"/>
            <a:ext cx="217627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Pour trouver un partenaire de grimpe au dernier moment.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9952" y="228600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42832" y="246888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E52"/>
                </a:solidFill>
                <a:latin typeface="Segoe UI"/>
              </a:rPr>
              <a:t>📋  Tableau de la salle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017520"/>
            <a:ext cx="217627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Pour repérer les blocs, les grades et les ouvreurs.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92040"/>
            <a:ext cx="10908792" cy="822960"/>
          </a:xfrm>
          <a:prstGeom prst="roundRect">
            <a:avLst>
              <a:gd name="adj" fmla="val 8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B9711A"/>
                </a:solidFill>
                <a:latin typeface="Segoe UI"/>
              </a:rPr>
              <a:t>Résultat : une expérience fragmentée et des données perdues à chaque 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LA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Kordo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4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486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32323"/>
                </a:solidFill>
                <a:latin typeface="Segoe UI"/>
              </a:rPr>
              <a:t>La première plateforme indoor-first qui réunit réseau social, suivi de progression et exploration des salles dans un seul produit.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E52"/>
                </a:solidFill>
                <a:latin typeface="Segoe UI"/>
              </a:rPr>
              <a:t>🎯  Objectif du projet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32323"/>
                </a:solidFill>
                <a:latin typeface="Segoe UI"/>
              </a:rPr>
              <a:t>Valider l'usage auprès de 3 salles pilotes et 100+ grimpeurs, avec une rétention J7 &gt; 40 % comme signal de product-market fit.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5493E8C-6F5B-6214-597B-F5E848BC7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00" y="640080"/>
            <a:ext cx="2690343" cy="5678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LE PRODUIT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Kordo en un coup d'œil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5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852160" cy="169164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E52"/>
                </a:solidFill>
                <a:latin typeface="Segoe UI"/>
              </a:rPr>
              <a:t>4 types de publication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32323"/>
                </a:solidFill>
                <a:latin typeface="Segoe UI"/>
              </a:rPr>
              <a:t>Post (photo) · Message (texte) · Activité (séance : salle, blocs validés, vidéos) · Now (présence live)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58521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39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E52"/>
                </a:solidFill>
                <a:latin typeface="Segoe UI"/>
              </a:rPr>
              <a:t>Indoor — le cœur de l'app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32323"/>
                </a:solidFill>
                <a:latin typeface="Segoe UI"/>
              </a:rPr>
              <a:t>Salles + filtres (favoris, populaires, récentes) · Blocs &amp; validation · Vidéos de méthode · Classement par salle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FE2F3D60-252B-7561-42E5-AD2E42989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95680">
            <a:off x="7888646" y="1602664"/>
            <a:ext cx="3445762" cy="791594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A56C4AC9-3D56-AFC5-4298-7EE31AFBA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55931">
            <a:off x="7944996" y="2244441"/>
            <a:ext cx="2330570" cy="351173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348150C3-BAD8-F1C5-A5B3-03E66662B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24932">
            <a:off x="9847586" y="3323670"/>
            <a:ext cx="1645414" cy="2976988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2C541990-ED8A-282D-8175-ACEF44716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01981">
            <a:off x="7210153" y="4566705"/>
            <a:ext cx="1773873" cy="9135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ÉTUDE DE MARCHÉ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Un marché en pleine croissance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6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Segoe UI"/>
              </a:rPr>
              <a:t>Porté par les Jeux Olympiques de Paris 2024, l'escalade indoor explose.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F6E52"/>
                </a:solidFill>
                <a:latin typeface="Segoe UI"/>
              </a:rPr>
              <a:t>1,2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91839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pratiquants en France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33172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2560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3F78B5"/>
                </a:solidFill>
                <a:latin typeface="Segoe UI"/>
              </a:rPr>
              <a:t>8 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3291839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pratiquants en Europe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33172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2560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B9711A"/>
                </a:solidFill>
                <a:latin typeface="Segoe UI"/>
              </a:rPr>
              <a:t>600+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3291839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salles indoor en France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79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97679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B9711A"/>
                </a:solidFill>
                <a:latin typeface="Segoe UI"/>
              </a:rPr>
              <a:t>28 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29199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âge médian (Gen Z ↑)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4069079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62856" y="4297679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F6E52"/>
                </a:solidFill>
                <a:latin typeface="Segoe UI"/>
              </a:rPr>
              <a:t>+12–15 %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6" y="5029199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croissance par 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1" y="4069079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57031" y="4297679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3F78B5"/>
                </a:solidFill>
                <a:latin typeface="Segoe UI"/>
              </a:rPr>
              <a:t>+25 %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5029199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d'inscriptions post-JO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ÉTUDE DE MARCHÉ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Marché adressable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7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Segoe UI"/>
              </a:rPr>
              <a:t>Mesuré en nombre de grimpeurs.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2331720"/>
            <a:ext cx="3291840" cy="3291840"/>
          </a:xfrm>
          <a:prstGeom prst="ellipse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20439" y="2834640"/>
            <a:ext cx="2286000" cy="2286000"/>
          </a:xfrm>
          <a:prstGeom prst="ellipse">
            <a:avLst/>
          </a:prstGeom>
          <a:solidFill>
            <a:srgbClr val="C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995928" y="3310128"/>
            <a:ext cx="1325880" cy="1325880"/>
          </a:xfrm>
          <a:prstGeom prst="ellipse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24231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F6E52"/>
                </a:solidFill>
                <a:latin typeface="Segoe UI"/>
              </a:rPr>
              <a:t>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2926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F6E52"/>
                </a:solidFill>
                <a:latin typeface="Segoe UI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379476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146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E52"/>
                </a:solidFill>
                <a:latin typeface="Segoe UI"/>
              </a:rPr>
              <a:t>≈ 44,5 M   TAM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Grimpeurs dans le monde, toutes pratiques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6576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E52"/>
                </a:solidFill>
                <a:latin typeface="Segoe UI"/>
              </a:rPr>
              <a:t>≈ 8 M   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1148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Grimpeurs indoor en Europe équipés smartphone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8006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E52"/>
                </a:solidFill>
                <a:latin typeface="Segoe UI"/>
              </a:rPr>
              <a:t>≈ 75 000   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2578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France + Benelux, an 1–3, pénétration ~5 %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ÉTUDE DE MARCHÉ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Concurrence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8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Segoe UI"/>
              </a:rPr>
              <a:t>Chacun couvre une brique — aucun ne réunit le tout pour l'indoor.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Arkose+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306324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9711A"/>
                </a:solidFill>
                <a:latin typeface="Segoe UI"/>
              </a:rPr>
              <a:t>La salle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474720"/>
            <a:ext cx="227685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App d'enseigne : résa, infos. Mono-enseigne, pas de social ouvert.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2377440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Strava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92608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4448" y="306324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9711A"/>
                </a:solidFill>
                <a:latin typeface="Segoe UI"/>
              </a:rPr>
              <a:t>Le social sportif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474720"/>
            <a:ext cx="227685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Feed &amp; gamification puissants. Mais pas d'escalade, ni blocs ni salles.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377440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Instagram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92608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4" y="306324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9711A"/>
                </a:solidFill>
                <a:latin typeface="Segoe UI"/>
              </a:rPr>
              <a:t>Le partage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474720"/>
            <a:ext cx="227685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Audience massive. Aucune donnée grimpe structurée ni classement.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2377440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8a.nu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9408" y="292608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306324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9711A"/>
                </a:solidFill>
                <a:latin typeface="Segoe UI"/>
              </a:rPr>
              <a:t>Le carnet de blocs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474720"/>
            <a:ext cx="227685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Logbook &amp; base de voies. Orienté outdoor, UX datée, social faible.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54880"/>
            <a:ext cx="10908792" cy="77724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E52"/>
                </a:solidFill>
                <a:latin typeface="Segoe UI"/>
              </a:rPr>
              <a:t>Kordo = la seule plateforme à réunir salle indoor + progression + social en un produit.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BUSINESS PLAN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Modèle économique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9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Segoe UI"/>
              </a:rPr>
              <a:t>Un modèle hybride B2B2C aligné sur l'usage réel.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2423160"/>
            <a:ext cx="2276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B2B · SALLES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788920"/>
            <a:ext cx="227685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323"/>
                </a:solidFill>
                <a:latin typeface="Segoe UI"/>
              </a:rPr>
              <a:t>Setup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24612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E52"/>
                </a:solidFill>
                <a:latin typeface="Segoe UI"/>
              </a:rPr>
              <a:t>500 – 2 000 €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703320"/>
            <a:ext cx="227685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Frais unique d'intégration, configuration des blocs &amp; 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2860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4448" y="2423160"/>
            <a:ext cx="2276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B2B · SALLES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788920"/>
            <a:ext cx="227685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323"/>
                </a:solidFill>
                <a:latin typeface="Segoe UI"/>
              </a:rPr>
              <a:t>SaaS récurrent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24612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E52"/>
                </a:solidFill>
                <a:latin typeface="Segoe UI"/>
              </a:rPr>
              <a:t>1 – 3 €/user/mois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3703320"/>
            <a:ext cx="227685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Abonnement selon le nombre d'utilisateurs actifs de la salle.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2860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2423160"/>
            <a:ext cx="2276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B2C · GRIMPEURS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788920"/>
            <a:ext cx="227685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323"/>
                </a:solidFill>
                <a:latin typeface="Segoe UI"/>
              </a:rPr>
              <a:t>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24612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E52"/>
                </a:solidFill>
                <a:latin typeface="Segoe UI"/>
              </a:rPr>
              <a:t>4,99 €/mois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703320"/>
            <a:ext cx="227685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Stats avancées, badges exclusifs, personnalisation.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9408" y="22860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2423160"/>
            <a:ext cx="2276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B2C · GRIMPEURS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788920"/>
            <a:ext cx="227685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323"/>
                </a:solidFill>
                <a:latin typeface="Segoe UI"/>
              </a:rPr>
              <a:t>Freemium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24612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E52"/>
                </a:solidFill>
                <a:latin typeface="Segoe UI"/>
              </a:rPr>
              <a:t>Gratuit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703320"/>
            <a:ext cx="227685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Feed, profil, blocs — acquisition &amp; masse critique.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83480"/>
            <a:ext cx="10908792" cy="73152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E52"/>
                </a:solidFill>
                <a:latin typeface="Segoe UI"/>
              </a:rPr>
              <a:t>Revenus salles prévisibles + conversion freemium → premium côté grimpeurs.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BUSINESS PLAN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Go-to-market &amp; projections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10 / 21</a:t>
            </a:r>
          </a:p>
        </p:txBody>
      </p:sp>
      <p:sp>
        <p:nvSpPr>
          <p:cNvPr id="8" name="Oval 7"/>
          <p:cNvSpPr/>
          <p:nvPr/>
        </p:nvSpPr>
        <p:spPr>
          <a:xfrm>
            <a:off x="1869948" y="1828800"/>
            <a:ext cx="146304" cy="146304"/>
          </a:xfrm>
          <a:prstGeom prst="ellipse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228600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Pilote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651760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T3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971800"/>
            <a:ext cx="227685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3 salles partenaires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MVP déployé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500 utilisateurs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14884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4448" y="228600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Lancement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651760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T4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971800"/>
            <a:ext cx="227685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App Store + Play Store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Influenceurs &amp; PR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3 000 téléchargements</a:t>
            </a:r>
          </a:p>
        </p:txBody>
      </p:sp>
      <p:sp>
        <p:nvSpPr>
          <p:cNvPr id="18" name="Oval 17"/>
          <p:cNvSpPr/>
          <p:nvPr/>
        </p:nvSpPr>
        <p:spPr>
          <a:xfrm>
            <a:off x="7429500" y="1828800"/>
            <a:ext cx="146304" cy="146304"/>
          </a:xfrm>
          <a:prstGeom prst="ellipse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99632" y="214884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228600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Croissance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651760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971800"/>
            <a:ext cx="227685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20 salles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5 000 actifs/mois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Premium lancé</a:t>
            </a:r>
          </a:p>
        </p:txBody>
      </p:sp>
      <p:sp>
        <p:nvSpPr>
          <p:cNvPr id="23" name="Oval 22"/>
          <p:cNvSpPr/>
          <p:nvPr/>
        </p:nvSpPr>
        <p:spPr>
          <a:xfrm>
            <a:off x="4649724" y="1840655"/>
            <a:ext cx="146304" cy="146304"/>
          </a:xfrm>
          <a:prstGeom prst="ellipse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79408" y="214884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651760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2028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71800"/>
            <a:ext cx="227685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BE, CH, ES, DE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50+ salles · 20 000 actifs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Levée Série 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2519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4805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F6E52"/>
                </a:solidFill>
                <a:latin typeface="Segoe UI"/>
              </a:rPr>
              <a:t>~ 9 k€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1206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Revenu année 1 — amorçage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6" y="42519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62856" y="44805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B9711A"/>
                </a:solidFill>
                <a:latin typeface="Segoe UI"/>
              </a:rPr>
              <a:t>~ 84 k€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6" y="51206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Revenu année 2 — seuil de rentabilité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2" y="42519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57032" y="44805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F78B5"/>
                </a:solidFill>
                <a:latin typeface="Segoe UI"/>
              </a:rPr>
              <a:t>~ 300 k€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51206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Revenu année 3 — croissance rentable</a:t>
            </a:r>
          </a:p>
        </p:txBody>
      </p:sp>
      <p:sp>
        <p:nvSpPr>
          <p:cNvPr id="38" name="Oval 12">
            <a:extLst>
              <a:ext uri="{FF2B5EF4-FFF2-40B4-BE49-F238E27FC236}">
                <a16:creationId xmlns:a16="http://schemas.microsoft.com/office/drawing/2014/main" id="{D5DEDD66-81FA-98D0-15FB-06691CB6919A}"/>
              </a:ext>
            </a:extLst>
          </p:cNvPr>
          <p:cNvSpPr/>
          <p:nvPr/>
        </p:nvSpPr>
        <p:spPr>
          <a:xfrm>
            <a:off x="10209276" y="1834896"/>
            <a:ext cx="146304" cy="146304"/>
          </a:xfrm>
          <a:prstGeom prst="ellipse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STRATÉGIE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Analyse SWOT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11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67528" cy="1993392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910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E52"/>
                </a:solidFill>
                <a:latin typeface="Segoe UI"/>
              </a:rPr>
              <a:t>Forces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910328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1er réseau social escalade indoor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Approche B2B2C (salles + grimpeurs)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Vidéos de méthode sur les blocs — unique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Stack moderne &amp; design system Kordo-UI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920240"/>
            <a:ext cx="5367528" cy="1993392"/>
          </a:xfrm>
          <a:prstGeom prst="roundRect">
            <a:avLst>
              <a:gd name="adj" fmla="val 8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2057400"/>
            <a:ext cx="4910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9711A"/>
                </a:solidFill>
                <a:latin typeface="Segoe UI"/>
              </a:rPr>
              <a:t>Faiblesses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468880"/>
            <a:ext cx="4910328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Équipe réduite, 0 traction commerciale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Pas de financement initial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Dépendance à l'adoption des salles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Notoriété nulle au démarrage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5367528" cy="1993392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178808"/>
            <a:ext cx="4910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F78B5"/>
                </a:solidFill>
                <a:latin typeface="Segoe UI"/>
              </a:rPr>
              <a:t>Opportunités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90288"/>
            <a:ext cx="4910328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Marché +12 %/an, boost post-JO durable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Gen Z très tech-native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Peu de concurrents sur l'indoor social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SaaS B2B scalable (600+ salles FR)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4041648"/>
            <a:ext cx="5367528" cy="1993392"/>
          </a:xfrm>
          <a:prstGeom prst="roundRect">
            <a:avLst>
              <a:gd name="adj" fmla="val 8000"/>
            </a:avLst>
          </a:prstGeom>
          <a:solidFill>
            <a:srgbClr val="F1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4178808"/>
            <a:ext cx="4910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E57A8"/>
                </a:solidFill>
                <a:latin typeface="Segoe UI"/>
              </a:rPr>
              <a:t>Menaces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590288"/>
            <a:ext cx="4910328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Strava / Arkose comblant la brique manquante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Instagram &amp; TikTok captent l'attention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Cycles d'acquisition B2B longs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32323"/>
                </a:solidFill>
                <a:latin typeface="Segoe UI"/>
              </a:rPr>
              <a:t>•  RGPD sur les données sportives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PILOTAGE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Roadmap — vue d'ensemble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12 / 21</a:t>
            </a:r>
          </a:p>
        </p:txBody>
      </p:sp>
      <p:sp>
        <p:nvSpPr>
          <p:cNvPr id="8" name="Oval 7"/>
          <p:cNvSpPr/>
          <p:nvPr/>
        </p:nvSpPr>
        <p:spPr>
          <a:xfrm>
            <a:off x="1860804" y="2194560"/>
            <a:ext cx="164592" cy="164592"/>
          </a:xfrm>
          <a:prstGeom prst="ellipse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274320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323"/>
                </a:solidFill>
                <a:latin typeface="Segoe UI"/>
              </a:rPr>
              <a:t>Sprint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154680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Mars 2026 · Terminé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520440"/>
            <a:ext cx="22768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Init projet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Design System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Kordo-UI stable</a:t>
            </a:r>
          </a:p>
        </p:txBody>
      </p:sp>
      <p:sp>
        <p:nvSpPr>
          <p:cNvPr id="13" name="Oval 12"/>
          <p:cNvSpPr/>
          <p:nvPr/>
        </p:nvSpPr>
        <p:spPr>
          <a:xfrm>
            <a:off x="4640580" y="2194560"/>
            <a:ext cx="164592" cy="164592"/>
          </a:xfrm>
          <a:prstGeom prst="ellipse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19856" y="256032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4448" y="274320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323"/>
                </a:solidFill>
                <a:latin typeface="Segoe UI"/>
              </a:rPr>
              <a:t>Sprint 3–4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154680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Mar–Avr 2026 · Terminé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520440"/>
            <a:ext cx="22768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Auth · Profil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Feed &amp; publications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Notifications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420356" y="2194560"/>
            <a:ext cx="164592" cy="164592"/>
          </a:xfrm>
          <a:prstGeom prst="ellipse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99632" y="256032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274320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323"/>
                </a:solidFill>
                <a:latin typeface="Segoe UI"/>
              </a:rPr>
              <a:t>Sprint 5–6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154680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Avr–Mai 2026 · Terminé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520440"/>
            <a:ext cx="22768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Indoor · blocs · vidéos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Classements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Messagerie · paramètres</a:t>
            </a:r>
          </a:p>
        </p:txBody>
      </p:sp>
      <p:sp>
        <p:nvSpPr>
          <p:cNvPr id="23" name="Oval 22"/>
          <p:cNvSpPr/>
          <p:nvPr/>
        </p:nvSpPr>
        <p:spPr>
          <a:xfrm>
            <a:off x="10200132" y="2194560"/>
            <a:ext cx="164592" cy="164592"/>
          </a:xfrm>
          <a:prstGeom prst="ellipse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79408" y="256032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2743200"/>
            <a:ext cx="2276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323"/>
                </a:solidFill>
                <a:latin typeface="Segoe UI"/>
              </a:rPr>
              <a:t>MVP 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154680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Juin 2026 · En cours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520440"/>
            <a:ext cx="22768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App Store + Play Store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3 salles pilotes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Monitoring &amp; RGPD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PILOTAGE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Méthode agile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13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3108960" cy="1280160"/>
          </a:xfrm>
          <a:prstGeom prst="roundRect">
            <a:avLst>
              <a:gd name="adj" fmla="val 8000"/>
            </a:avLst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Backlog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Épics &amp; user stories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560320"/>
            <a:ext cx="548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6B6B6B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331720"/>
            <a:ext cx="3108960" cy="1280160"/>
          </a:xfrm>
          <a:prstGeom prst="roundRect">
            <a:avLst>
              <a:gd name="adj" fmla="val 8000"/>
            </a:avLst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Sprint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Itérations de 2 semaines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560320"/>
            <a:ext cx="548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6B6B6B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331720"/>
            <a:ext cx="3108960" cy="1280160"/>
          </a:xfrm>
          <a:prstGeom prst="roundRect">
            <a:avLst>
              <a:gd name="adj" fmla="val 8000"/>
            </a:avLst>
          </a:prstGeom>
          <a:solidFill>
            <a:srgbClr val="3F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Tâches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Découpage &amp; réalisation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Segoe UI"/>
              </a:rPr>
              <a:t>Priorisation et estimation structurées 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26280"/>
            <a:ext cx="2443276" cy="50292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F6E52"/>
                </a:solidFill>
                <a:latin typeface="Segoe UI"/>
              </a:rPr>
              <a:t>MoSCoW (Critique → Faible)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6236" y="4526280"/>
            <a:ext cx="3200400" cy="50292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F6E52"/>
                </a:solidFill>
                <a:latin typeface="Segoe UI"/>
              </a:rPr>
              <a:t>Estimation Fibonacci (1·2·3·5·8·13)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9516" y="4526280"/>
            <a:ext cx="2359152" cy="50292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F6E52"/>
                </a:solidFill>
                <a:latin typeface="Segoe UI"/>
              </a:rPr>
              <a:t>Vélocité ~30 pts / sprint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1548" y="4526280"/>
            <a:ext cx="2611526" cy="50292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F6E52"/>
                </a:solidFill>
                <a:latin typeface="Segoe UI"/>
              </a:rPr>
              <a:t>25 user stories · 124 points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PILOTAGE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Story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14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Segoe UI"/>
              </a:rPr>
              <a:t>Parcours utilisateur (colonnes) × priorité (lignes). La ligne orange = frontière MVP.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4028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ONBOARDING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5" y="224028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INDOOR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224028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FEED &amp; SOCIAL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6912" y="224028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7E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PROFIL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24028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3F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MESSAGES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Inscription / Connexion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71215" y="274320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Liste salles + filtres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274320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Fil d'actualité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274320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Profil public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74320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Notifications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18688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OAuth Google / Apple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71215" y="3218688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Blocs +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4064" y="3218688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Post·Message·Activité·Now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3218688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Modifier profil + avatar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218688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Messagerie 1:1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71215" y="3694176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Vidéos méthode · Classement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4064" y="3694176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Like &amp; commentaire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6912" y="3694176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223344"/>
                </a:solidFill>
                <a:latin typeface="Segoe UI"/>
              </a:rPr>
              <a:t>Follow / Abonnements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24528"/>
            <a:ext cx="10844784" cy="45720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58368" y="4370832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99999"/>
                </a:solidFill>
                <a:latin typeface="Segoe UI"/>
              </a:rPr>
              <a:t>Suppression compte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71215" y="4370832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99999"/>
                </a:solidFill>
                <a:latin typeface="Segoe UI"/>
              </a:rPr>
              <a:t>Check-in · Détection géoloc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4370832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99999"/>
                </a:solidFill>
                <a:latin typeface="Segoe UI"/>
              </a:rPr>
              <a:t>Now auto · Résumé hebdo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6912" y="4370832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99999"/>
                </a:solidFill>
                <a:latin typeface="Segoe UI"/>
              </a:rPr>
              <a:t>Graphiques · Premium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4370832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99999"/>
                </a:solidFill>
                <a:latin typeface="Segoe UI"/>
              </a:rPr>
              <a:t>Appels · Événements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37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B6B6B"/>
                </a:solidFill>
                <a:latin typeface="Segoe UI"/>
              </a:rPr>
              <a:t>Vert = MVP (S3–S6) · Gris = post-MVP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CONCEPTION PRODUIT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User Stories &amp; parcours utilisateur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15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Segoe UI"/>
              </a:rPr>
              <a:t>3 stories cœur du MVP — persona, besoin et valeur — puis le parcours type d'un grimpeur.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73152" cy="2331720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US-01 · SPRINT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32323"/>
                </a:solidFill>
                <a:latin typeface="Segoe UI"/>
              </a:rPr>
              <a:t>Authentification &amp;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101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2F6E52"/>
                </a:solidFill>
                <a:latin typeface="Segoe UI"/>
              </a:rPr>
              <a:t>Lucas — nouveau grimpeur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Créer un compte et se connecter pour rejoindre la communauté et suivre ses sessions.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336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F8F6B"/>
                </a:solidFill>
                <a:latin typeface="Segoe UI"/>
              </a:rPr>
              <a:t>Critique · 8 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228600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34256" y="2286000"/>
            <a:ext cx="73152" cy="2331720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62856" y="24505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US-02 · SPRINT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743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32323"/>
                </a:solidFill>
                <a:latin typeface="Segoe UI"/>
              </a:rPr>
              <a:t>Exploration indoor — salles &amp; blocs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33101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2F6E52"/>
                </a:solidFill>
                <a:latin typeface="Segoe UI"/>
              </a:rPr>
              <a:t>Sofía — grimpeuse confirmée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36576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Consulter les blocs d'une salle, leurs vidéos de méthode et le classement pour préparer sa session.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42336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0902F"/>
                </a:solidFill>
                <a:latin typeface="Segoe UI"/>
              </a:rPr>
              <a:t>Critique · 13 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2" y="228600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28432" y="2286000"/>
            <a:ext cx="73152" cy="2331720"/>
          </a:xfrm>
          <a:prstGeom prst="rect">
            <a:avLst/>
          </a:prstGeom>
          <a:solidFill>
            <a:srgbClr val="3F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57032" y="24505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902F"/>
                </a:solidFill>
                <a:latin typeface="Segoe UI"/>
              </a:rPr>
              <a:t>US-03 · SPRINT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2743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32323"/>
                </a:solidFill>
                <a:latin typeface="Segoe UI"/>
              </a:rPr>
              <a:t>Fil social &amp; publications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33101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2F6E52"/>
                </a:solidFill>
                <a:latin typeface="Segoe UI"/>
              </a:rPr>
              <a:t>Lucas — grimpeur actif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36576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Publier (Post · Message · Activité · Now) et réagir pour documenter sa progression et échanger.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42336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F78B5"/>
                </a:solidFill>
                <a:latin typeface="Segoe UI"/>
              </a:rPr>
              <a:t>Haute · 13 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Parcours type — du premier lancement à la communauté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34924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S'inscrire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422392"/>
            <a:ext cx="3017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6B6B6B"/>
                </a:solidFill>
                <a:latin typeface="Segoe U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534924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Explorer une salle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7" y="5422392"/>
            <a:ext cx="3017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6B6B6B"/>
                </a:solidFill>
                <a:latin typeface="Segoe U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534924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Valider un bloc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5422392"/>
            <a:ext cx="3017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6B6B6B"/>
                </a:solidFill>
                <a:latin typeface="Segoe U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534924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Publier une activité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33688" y="5422392"/>
            <a:ext cx="3017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6B6B6B"/>
                </a:solidFill>
                <a:latin typeface="Segoe U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534924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Interagir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LE PÉRIMÈTRE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Le MVP : choisi vs reporté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16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67528" cy="502920"/>
          </a:xfrm>
          <a:prstGeom prst="roundRect">
            <a:avLst>
              <a:gd name="adj" fmla="val 8000"/>
            </a:avLst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✓  Dans le MVP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536752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32323"/>
                </a:solidFill>
                <a:latin typeface="Segoe UI"/>
              </a:rPr>
              <a:t>✓  Auth email + Google / Apple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32323"/>
                </a:solidFill>
                <a:latin typeface="Segoe UI"/>
              </a:rPr>
              <a:t>✓  Profil public + modification &amp; avatar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32323"/>
                </a:solidFill>
                <a:latin typeface="Segoe UI"/>
              </a:rPr>
              <a:t>✓  Feed + 4 publications (Now manuel)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32323"/>
                </a:solidFill>
                <a:latin typeface="Segoe UI"/>
              </a:rPr>
              <a:t>✓  Like &amp; commentaire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32323"/>
                </a:solidFill>
                <a:latin typeface="Segoe UI"/>
              </a:rPr>
              <a:t>✓  Follow / unfollow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32323"/>
                </a:solidFill>
                <a:latin typeface="Segoe UI"/>
              </a:rPr>
              <a:t>✓  Notifications + messagerie (sans appel)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32323"/>
                </a:solidFill>
                <a:latin typeface="Segoe UI"/>
              </a:rPr>
              <a:t>✓  Salles + filtres · blocs + validation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32323"/>
                </a:solidFill>
                <a:latin typeface="Segoe UI"/>
              </a:rPr>
              <a:t>✓  Vidéos de méthode · classement salle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920240"/>
            <a:ext cx="5367528" cy="502920"/>
          </a:xfrm>
          <a:prstGeom prst="roundRect">
            <a:avLst>
              <a:gd name="adj" fmla="val 8000"/>
            </a:avLst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✗  Reporté (post-MVP)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423160"/>
            <a:ext cx="536752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B6B"/>
                </a:solidFill>
                <a:latin typeface="Segoe UI"/>
              </a:rPr>
              <a:t>✗  Check-in dématérialisé + Now auto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B6B"/>
                </a:solidFill>
                <a:latin typeface="Segoe UI"/>
              </a:rPr>
              <a:t>✗  Détection grimpeurs (Meet, géoloc)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B6B"/>
                </a:solidFill>
                <a:latin typeface="Segoe UI"/>
              </a:rPr>
              <a:t>✗  Graphiques de progression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B6B"/>
                </a:solidFill>
                <a:latin typeface="Segoe UI"/>
              </a:rPr>
              <a:t>✗  Badges &amp; trophées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B6B"/>
                </a:solidFill>
                <a:latin typeface="Segoe UI"/>
              </a:rPr>
              <a:t>✗  Compte Premium B2C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B6B"/>
                </a:solidFill>
                <a:latin typeface="Segoe UI"/>
              </a:rPr>
              <a:t>✗  Création d'événements · résumé hebdo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B6B"/>
                </a:solidFill>
                <a:latin typeface="Segoe UI"/>
              </a:rPr>
              <a:t>✗  Mode sombre · multilingue · appels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B6B"/>
                </a:solidFill>
                <a:latin typeface="Segoe UI"/>
              </a:rPr>
              <a:t>✗  Dashboard gérant (B2B)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49240"/>
            <a:ext cx="10908792" cy="731520"/>
          </a:xfrm>
          <a:prstGeom prst="roundRect">
            <a:avLst>
              <a:gd name="adj" fmla="val 8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B9711A"/>
                </a:solidFill>
                <a:latin typeface="Segoe UI"/>
              </a:rPr>
              <a:t>Le vrai défi : couper des features d'un projet auquel on croit, pour livrer l'essentiel.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DÉVELOPPEMENT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17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73152" cy="960120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21991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React Native + Expo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39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Application mobile cross-platform iOS &amp; Android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10312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4256" y="2103120"/>
            <a:ext cx="73152" cy="960120"/>
          </a:xfrm>
          <a:prstGeom prst="rect">
            <a:avLst/>
          </a:prstGeom>
          <a:solidFill>
            <a:srgbClr val="3F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2221991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606039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Typage strict de bout en bout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210312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28431" y="2103120"/>
            <a:ext cx="73152" cy="960120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2221991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606039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Auth · PostgreSQL · Realtime · 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64408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264408"/>
            <a:ext cx="73152" cy="960120"/>
          </a:xfrm>
          <a:prstGeom prst="rect">
            <a:avLst/>
          </a:prstGeom>
          <a:solidFill>
            <a:srgbClr val="7E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383279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expo-router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767328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Navigation par fichiers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6" y="3264408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34256" y="3264408"/>
            <a:ext cx="73152" cy="960120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62856" y="3383279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Emotion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767328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Styling cross-platform (native + web)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3264408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28431" y="3264408"/>
            <a:ext cx="73152" cy="960120"/>
          </a:xfrm>
          <a:prstGeom prst="rect">
            <a:avLst/>
          </a:prstGeom>
          <a:solidFill>
            <a:srgbClr val="3F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57031" y="3383279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pnpm monorepo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3767328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core · kordo-ui · frontend · backend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425696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425696"/>
            <a:ext cx="73152" cy="960120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5445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Kordo-UI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928616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Design system atoms → organisms, Storybook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34256" y="4425696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34256" y="4425696"/>
            <a:ext cx="73152" cy="960120"/>
          </a:xfrm>
          <a:prstGeom prst="rect">
            <a:avLst/>
          </a:prstGeom>
          <a:solidFill>
            <a:srgbClr val="7E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62856" y="45445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323"/>
                </a:solidFill>
                <a:latin typeface="Segoe UI"/>
              </a:rPr>
              <a:t>Sentry · PostHog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2856" y="4928616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Monitoring &amp; analytics produit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DÉVELOPPEMENT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18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82880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📱  Application mobile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Segoe UI"/>
              </a:rPr>
              <a:t>React Native + Expo · expo-router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2788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Segoe UI"/>
              </a:rPr>
              <a:t>↓  API REST · Realtime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320040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3F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⚙  Supabase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Segoe UI"/>
              </a:rPr>
              <a:t>Auth · Realtime · Storage · Edge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41605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6B6B6B"/>
                </a:solidFill>
                <a:latin typeface="Segoe U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452628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🗄  PostgreSQL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Segoe UI"/>
              </a:rPr>
              <a:t>Users · Gyms · Boulders · Posts · Messages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623560"/>
            <a:ext cx="2606040" cy="6858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F6E52"/>
                </a:solidFill>
                <a:latin typeface="Segoe UI"/>
              </a:rPr>
              <a:t>core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F6E52"/>
                </a:solidFill>
                <a:latin typeface="Segoe UI"/>
              </a:rPr>
              <a:t>types domaine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5623560"/>
            <a:ext cx="2606040" cy="6858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F6E52"/>
                </a:solidFill>
                <a:latin typeface="Segoe UI"/>
              </a:rPr>
              <a:t>kordo-ui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F6E52"/>
                </a:solidFill>
                <a:latin typeface="Segoe UI"/>
              </a:rPr>
              <a:t>design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5623560"/>
            <a:ext cx="2606040" cy="6858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F6E52"/>
                </a:solidFill>
                <a:latin typeface="Segoe UI"/>
              </a:rPr>
              <a:t>frontend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F6E52"/>
                </a:solidFill>
                <a:latin typeface="Segoe UI"/>
              </a:rPr>
              <a:t>app Expo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9408" y="5623560"/>
            <a:ext cx="2606040" cy="6858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F6E52"/>
                </a:solidFill>
                <a:latin typeface="Segoe UI"/>
              </a:rPr>
              <a:t>backend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F6E52"/>
                </a:solidFill>
                <a:latin typeface="Segoe UI"/>
              </a:rPr>
              <a:t>API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RETOUR D'EXPÉRIENCE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Difficultés rencontrées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19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090879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0902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94560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323"/>
                </a:solidFill>
                <a:latin typeface="Segoe UI"/>
              </a:rPr>
              <a:t>Les contraintes de temps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15184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Mener de front conception, design, architecture et développement en solo impose des arbitrages permanents sur le périmètre.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01568"/>
            <a:ext cx="1090879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675888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0902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84448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323"/>
                </a:solidFill>
                <a:latin typeface="Segoe UI"/>
              </a:rPr>
              <a:t>Réduire le périmètre du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05072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Vouloir tout mettre dans le MVP. Couper des fonctionnalités d'un projet auquel on croit est difficile — apprendre à prioriser (MoSCoW, frontière MVP) a été clé.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91456"/>
            <a:ext cx="1090879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065776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0902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974336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323"/>
                </a:solidFill>
                <a:latin typeface="Segoe UI"/>
              </a:rPr>
              <a:t>Un business model réaliste &amp; rentable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39496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Construire un modèle viable : équilibrer la valeur B2B (salles) et B2C (grimpeurs) pour quelque chose de crédible et rentable.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02F"/>
                </a:solidFill>
                <a:latin typeface="Segoe UI"/>
              </a:rPr>
              <a:t>PLACE À LA PRATIQUE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32323"/>
                </a:solidFill>
                <a:latin typeface="Segoe UI"/>
              </a:rPr>
              <a:t>Démo du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685800" cy="54864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481328"/>
            <a:ext cx="274320" cy="54864"/>
          </a:xfrm>
          <a:prstGeom prst="rect">
            <a:avLst/>
          </a:prstGeom>
          <a:solidFill>
            <a:srgbClr val="E0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B6B"/>
                </a:solidFill>
                <a:latin typeface="Segoe UI"/>
              </a:rPr>
              <a:t>Kordo · Soutenance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B6B6B"/>
                </a:solidFill>
                <a:latin typeface="Segoe UI"/>
              </a:rPr>
              <a:t>20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11679"/>
            <a:ext cx="5285232" cy="3474721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E52"/>
                </a:solidFill>
                <a:latin typeface="Segoe UI"/>
              </a:rPr>
              <a:t>🎬  Démonstration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9748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32323"/>
                </a:solidFill>
                <a:latin typeface="Segoe UI"/>
              </a:rPr>
              <a:t>Parcours : inscription → exploration d'une salle → validation d'un bloc → publication d'une activité → feed social.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11679"/>
            <a:ext cx="5285232" cy="3474721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 w="19050">
            <a:solidFill>
              <a:srgbClr val="C4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A9A93"/>
                </a:solidFill>
                <a:latin typeface="Segoe UI"/>
              </a:rPr>
              <a:t>🖼  QR code / lien démo (optionnel)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378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Segoe UI"/>
              </a:rPr>
              <a:t>Merci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6F2EC"/>
                </a:solidFill>
                <a:latin typeface="Segoe UI"/>
              </a:rPr>
              <a:t>Jacinto Valentino · M2 Développement — ECV Paris ·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Kordo.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1734</Words>
  <Application>Microsoft Office PowerPoint</Application>
  <PresentationFormat>Grand écran</PresentationFormat>
  <Paragraphs>360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Valentino JACINTO</cp:lastModifiedBy>
  <cp:revision>2</cp:revision>
  <dcterms:created xsi:type="dcterms:W3CDTF">2013-01-27T09:14:16Z</dcterms:created>
  <dcterms:modified xsi:type="dcterms:W3CDTF">2026-06-16T00:24:23Z</dcterms:modified>
  <cp:category/>
</cp:coreProperties>
</file>