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6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5333695" cy="6858000"/>
          </a:xfrm>
          <a:prstGeom prst="rect">
            <a:avLst/>
          </a:prstGeom>
          <a:solidFill>
            <a:srgbClr val="4BA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FFFFF"/>
                </a:solidFill>
                <a:latin typeface="Segoe UI"/>
              </a:rPr>
              <a:t>Kordo.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FFFFFF"/>
                </a:solidFill>
                <a:latin typeface="Segoe UI"/>
              </a:rPr>
              <a:t>Réseau social d'escalade indoor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3886200"/>
            <a:ext cx="114300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Soutenance · Projet de Fin d'Études ·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709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Jacinto Valentino — M2 Développement, cursus Tech Lead · ECV Paris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630936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1">
                <a:solidFill>
                  <a:srgbClr val="CFE6DA"/>
                </a:solidFill>
                <a:latin typeface="Segoe UI"/>
              </a:rPr>
              <a:t>🖼  Fond : photo d'ambiance bloc indoor (optionnel)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PRÉSENTATION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Qui suis-je 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2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4754880" cy="402336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Photo de toi à insérer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Portrait ou photo en salle de bloc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28600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F8F6B"/>
                </a:solidFill>
                <a:latin typeface="Segoe UI"/>
              </a:rPr>
              <a:t>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2860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32323"/>
                </a:solidFill>
                <a:latin typeface="Segoe UI"/>
              </a:rPr>
              <a:t>Jacinto Valentino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94436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F8F6B"/>
                </a:solidFill>
                <a:latin typeface="Segoe UI"/>
              </a:rPr>
              <a:t>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4436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32323"/>
                </a:solidFill>
                <a:latin typeface="Segoe UI"/>
              </a:rPr>
              <a:t>Étudiant M2 Développement à l'ECV Paris — cursus Tech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602735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F8F6B"/>
                </a:solidFill>
                <a:latin typeface="Segoe UI"/>
              </a:rPr>
              <a:t>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602735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32323"/>
                </a:solidFill>
                <a:latin typeface="Segoe UI"/>
              </a:rPr>
              <a:t>Grimpeur depuis 2020 (post-Covid)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61103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F8F6B"/>
                </a:solidFill>
                <a:latin typeface="Segoe UI"/>
              </a:rPr>
              <a:t>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4261103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32323"/>
                </a:solidFill>
                <a:latin typeface="Segoe UI"/>
              </a:rPr>
              <a:t>Passionné d'escalade indoor et de produit mobile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919471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F8F6B"/>
                </a:solidFill>
                <a:latin typeface="Segoe UI"/>
              </a:rPr>
              <a:t>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32323"/>
                </a:solidFill>
                <a:latin typeface="Segoe UI"/>
              </a:rPr>
              <a:t>Kordo est né de ma propre pratique et de ses frustrations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LE CONSTAT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3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Un grimpeur jongle entre 4 outils — aucun ne réunit tout.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54203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468880"/>
            <a:ext cx="2176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📸  Instagram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017520"/>
            <a:ext cx="21762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Pour partager ses sessions… mais aucune donnée d'escalade.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2286000"/>
            <a:ext cx="254203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2468880"/>
            <a:ext cx="2176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📊  Un tableur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3017520"/>
            <a:ext cx="21762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Pour suivre sa progression et ses blocs validés, à la main.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2286000"/>
            <a:ext cx="254203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2468880"/>
            <a:ext cx="2176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💬  WhatsApp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3017520"/>
            <a:ext cx="21762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Pour trouver un partenaire de grimpe au dernier moment.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2286000"/>
            <a:ext cx="254203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42832" y="2468880"/>
            <a:ext cx="2176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📋  Tableau de la salle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2832" y="3017520"/>
            <a:ext cx="21762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Pour repérer les blocs, les grades et les ouvreurs.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92040"/>
            <a:ext cx="10908792" cy="822960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B9711A"/>
                </a:solidFill>
                <a:latin typeface="Segoe UI"/>
              </a:rPr>
              <a:t>Résultat : une expérience fragmentée et des données perdues à chaque session.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LA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Kordo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4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486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32323"/>
                </a:solidFill>
                <a:latin typeface="Segoe UI"/>
              </a:rPr>
              <a:t>La première plateforme indoor-first qui réunit réseau social, suivi de progression et exploration des salles dans un seul produit.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862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🎯  Objectif du projet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348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32323"/>
                </a:solidFill>
                <a:latin typeface="Segoe UI"/>
              </a:rPr>
              <a:t>Valider l'usage auprès de 3 salles pilotes et 100+ grimpeurs, avec une rétention J7 &gt; 40 % comme signal de product-market fit.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920240"/>
            <a:ext cx="4965192" cy="402336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Capture d'écran à insérer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Écran d'accueil / feed de l'app Kordo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LE PRODUIT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Kordo en un coup d'œil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5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852160" cy="169164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4 types de publication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Post (photo) · Message (texte) · Activité (séance : salle, blocs validés, vidéos) · Now (présence live)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94760"/>
            <a:ext cx="58521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Indoor — le cœur de l'app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805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Salles + filtres (favoris, populaires, récentes) · Blocs &amp; validation · Vidéos de méthode · Classement par salle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1920240"/>
            <a:ext cx="2377440" cy="365760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Écran Feed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à insérer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1432" y="1920240"/>
            <a:ext cx="2377440" cy="365760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Fiche bloc + vidéo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à insérer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ÉTUDE DE MARCHÉ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Un marché en pleine croissance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6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Porté par les Jeux Olympiques de Paris 2024, l'escalade indoor explose.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F6E52"/>
                </a:solidFill>
                <a:latin typeface="Segoe UI"/>
              </a:rPr>
              <a:t>1,2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91839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pratiquants en France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3317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256032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3F78B5"/>
                </a:solidFill>
                <a:latin typeface="Segoe UI"/>
              </a:rPr>
              <a:t>8 M+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3291839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pratiquants en Europe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3317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256032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B9711A"/>
                </a:solidFill>
                <a:latin typeface="Segoe UI"/>
              </a:rPr>
              <a:t>600+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3291839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salles indoor en France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79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97679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B9711A"/>
                </a:solidFill>
                <a:latin typeface="Segoe UI"/>
              </a:rPr>
              <a:t>28 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29199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âge médian (Gen Z ↑)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4256" y="4069079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2856" y="4297679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F6E52"/>
                </a:solidFill>
                <a:latin typeface="Segoe UI"/>
              </a:rPr>
              <a:t>+12–15 %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856" y="5029199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croissance par 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4069079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1" y="4297679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3F78B5"/>
                </a:solidFill>
                <a:latin typeface="Segoe UI"/>
              </a:rPr>
              <a:t>+25 %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5029199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d'inscriptions post-JO 2024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ÉTUDE DE MARCHÉ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Marché adressable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7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Mesuré en nombre de grimpeurs.</a:t>
            </a:r>
          </a:p>
        </p:txBody>
      </p:sp>
      <p:sp>
        <p:nvSpPr>
          <p:cNvPr id="9" name="Oval 8"/>
          <p:cNvSpPr/>
          <p:nvPr/>
        </p:nvSpPr>
        <p:spPr>
          <a:xfrm>
            <a:off x="3017520" y="2331720"/>
            <a:ext cx="3291840" cy="3291840"/>
          </a:xfrm>
          <a:prstGeom prst="ellipse">
            <a:avLst/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20439" y="2834640"/>
            <a:ext cx="2286000" cy="2286000"/>
          </a:xfrm>
          <a:prstGeom prst="ellipse">
            <a:avLst/>
          </a:prstGeom>
          <a:solidFill>
            <a:srgbClr val="CF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995928" y="3310128"/>
            <a:ext cx="1325880" cy="1325880"/>
          </a:xfrm>
          <a:prstGeom prst="ellipse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2423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F6E52"/>
                </a:solidFill>
                <a:latin typeface="Segoe UI"/>
              </a:rPr>
              <a:t>TAM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39" y="29260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F6E52"/>
                </a:solidFill>
                <a:latin typeface="Segoe U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95928" y="3794760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5146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F6E52"/>
                </a:solidFill>
                <a:latin typeface="Segoe UI"/>
              </a:rPr>
              <a:t>≈ 44,5 M   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9718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Grimpeurs dans le monde, toutes pratiques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6576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F6E52"/>
                </a:solidFill>
                <a:latin typeface="Segoe UI"/>
              </a:rPr>
              <a:t>≈ 8 M   SAM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1148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Grimpeurs indoor en Europe équipés smartphone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8006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F6E52"/>
                </a:solidFill>
                <a:latin typeface="Segoe UI"/>
              </a:rPr>
              <a:t>≈ 75 000   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2578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France + Benelux, an 1–3, pénétration ~5 %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ÉTUDE DE MARCHÉ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Concurrence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8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Chacun couvre une brique — aucun ne réunit le tout pour l'indoor.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2606040" cy="548640"/>
          </a:xfrm>
          <a:prstGeom prst="roundRect">
            <a:avLst>
              <a:gd name="adj" fmla="val 8000"/>
            </a:avLst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Arkose+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306324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9711A"/>
                </a:solidFill>
                <a:latin typeface="Segoe UI"/>
              </a:rPr>
              <a:t>La salle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474720"/>
            <a:ext cx="227685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App d'enseigne : résa, infos. Mono-enseigne, pas de social ouvert.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9856" y="2377440"/>
            <a:ext cx="2606040" cy="548640"/>
          </a:xfrm>
          <a:prstGeom prst="roundRect">
            <a:avLst>
              <a:gd name="adj" fmla="val 8000"/>
            </a:avLst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Strava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306324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9711A"/>
                </a:solidFill>
                <a:latin typeface="Segoe UI"/>
              </a:rPr>
              <a:t>Le social sportif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474720"/>
            <a:ext cx="227685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Feed &amp; gamification puissants. Mais pas d'escalade, ni blocs ni salles.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377440"/>
            <a:ext cx="2606040" cy="548640"/>
          </a:xfrm>
          <a:prstGeom prst="roundRect">
            <a:avLst>
              <a:gd name="adj" fmla="val 8000"/>
            </a:avLst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Instagram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306324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9711A"/>
                </a:solidFill>
                <a:latin typeface="Segoe UI"/>
              </a:rPr>
              <a:t>Le partage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3474720"/>
            <a:ext cx="227685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Audience massive. Aucune donnée grimpe structurée ni classement.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408" y="2377440"/>
            <a:ext cx="2606040" cy="548640"/>
          </a:xfrm>
          <a:prstGeom prst="roundRect">
            <a:avLst>
              <a:gd name="adj" fmla="val 8000"/>
            </a:avLst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8a.nu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9408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306324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9711A"/>
                </a:solidFill>
                <a:latin typeface="Segoe UI"/>
              </a:rPr>
              <a:t>Le carnet de blocs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474720"/>
            <a:ext cx="227685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Logbook &amp; base de voies. Orienté outdoor, UX datée, social faible.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80"/>
            <a:ext cx="10908792" cy="77724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F6E52"/>
                </a:solidFill>
                <a:latin typeface="Segoe UI"/>
              </a:rPr>
              <a:t>Kordo = la seule plateforme à réunir salle indoor + progression + social en un produit.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BUSINESS PLAN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Modèle économique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9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Un modèle hybride B2B2C aligné sur l'usage réel.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423160"/>
            <a:ext cx="2276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B2B · SALLES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278892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Setup Fee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24612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E52"/>
                </a:solidFill>
                <a:latin typeface="Segoe UI"/>
              </a:rPr>
              <a:t>500 – 2 000 €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703320"/>
            <a:ext cx="22768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Frais unique d'intégration, configuration des blocs &amp; formation.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22860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2423160"/>
            <a:ext cx="2276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B2B · SALLES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78892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SaaS récurrent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24612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E52"/>
                </a:solidFill>
                <a:latin typeface="Segoe UI"/>
              </a:rPr>
              <a:t>1 – 3 €/user/mois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3703320"/>
            <a:ext cx="22768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Abonnement selon le nombre d'utilisateurs actifs de la salle.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22860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2423160"/>
            <a:ext cx="2276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B2C · GRIMPEURS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78892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324612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E52"/>
                </a:solidFill>
                <a:latin typeface="Segoe UI"/>
              </a:rPr>
              <a:t>4,99 €/mois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3703320"/>
            <a:ext cx="22768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Stats avancées, badges exclusifs, personnalisation.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9408" y="22860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2423160"/>
            <a:ext cx="2276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B2C · GRIMPEURS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78892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Freemium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24612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E52"/>
                </a:solidFill>
                <a:latin typeface="Segoe UI"/>
              </a:rPr>
              <a:t>Gratuit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703320"/>
            <a:ext cx="22768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Feed, profil, blocs — acquisition &amp; masse critique.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983480"/>
            <a:ext cx="10908792" cy="73152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F6E52"/>
                </a:solidFill>
                <a:latin typeface="Segoe UI"/>
              </a:rPr>
              <a:t>Revenus salles prévisibles + conversion freemium → premium côté grimpeurs.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BUSINESS PLAN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Go-to-market &amp; projections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10 / 20</a:t>
            </a:r>
          </a:p>
        </p:txBody>
      </p:sp>
      <p:sp>
        <p:nvSpPr>
          <p:cNvPr id="8" name="Oval 7"/>
          <p:cNvSpPr/>
          <p:nvPr/>
        </p:nvSpPr>
        <p:spPr>
          <a:xfrm>
            <a:off x="1869948" y="1828800"/>
            <a:ext cx="146304" cy="146304"/>
          </a:xfrm>
          <a:prstGeom prst="ellipse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26060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Pilote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2651760"/>
            <a:ext cx="2276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T3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71800"/>
            <a:ext cx="22768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3 salles partenaires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MVP déployé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500 utilisateurs</a:t>
            </a:r>
          </a:p>
        </p:txBody>
      </p:sp>
      <p:sp>
        <p:nvSpPr>
          <p:cNvPr id="13" name="Oval 12"/>
          <p:cNvSpPr/>
          <p:nvPr/>
        </p:nvSpPr>
        <p:spPr>
          <a:xfrm>
            <a:off x="4649724" y="1828800"/>
            <a:ext cx="146304" cy="146304"/>
          </a:xfrm>
          <a:prstGeom prst="ellipse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9856" y="2148840"/>
            <a:ext cx="26060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228600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Lancement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651760"/>
            <a:ext cx="2276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T4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971800"/>
            <a:ext cx="22768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App Store + Play Store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Influenceurs &amp; PR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3 000 téléchargements</a:t>
            </a:r>
          </a:p>
        </p:txBody>
      </p:sp>
      <p:sp>
        <p:nvSpPr>
          <p:cNvPr id="18" name="Oval 17"/>
          <p:cNvSpPr/>
          <p:nvPr/>
        </p:nvSpPr>
        <p:spPr>
          <a:xfrm>
            <a:off x="7429500" y="1828800"/>
            <a:ext cx="146304" cy="146304"/>
          </a:xfrm>
          <a:prstGeom prst="ellipse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99632" y="2148840"/>
            <a:ext cx="26060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228600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Croissance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651760"/>
            <a:ext cx="2276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971800"/>
            <a:ext cx="22768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20 salles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5 000 actifs/mois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Premium lancé</a:t>
            </a:r>
          </a:p>
        </p:txBody>
      </p:sp>
      <p:sp>
        <p:nvSpPr>
          <p:cNvPr id="23" name="Oval 22"/>
          <p:cNvSpPr/>
          <p:nvPr/>
        </p:nvSpPr>
        <p:spPr>
          <a:xfrm>
            <a:off x="10209276" y="1828800"/>
            <a:ext cx="146304" cy="146304"/>
          </a:xfrm>
          <a:prstGeom prst="ellipse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79408" y="2148840"/>
            <a:ext cx="26060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228600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Expansion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651760"/>
            <a:ext cx="2276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2028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71800"/>
            <a:ext cx="22768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BE, CH, ES, DE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50+ salles · 20 000 actifs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Levée Série 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25196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F6E52"/>
                </a:solidFill>
                <a:latin typeface="Segoe UI"/>
              </a:rPr>
              <a:t>~ 9 k€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120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Revenu année 1 — amorçage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34256" y="425196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62856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B9711A"/>
                </a:solidFill>
                <a:latin typeface="Segoe UI"/>
              </a:rPr>
              <a:t>~ 84 k€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62856" y="5120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Revenu année 2 — seuil de rentabilité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28432" y="425196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F78B5"/>
                </a:solidFill>
                <a:latin typeface="Segoe UI"/>
              </a:rPr>
              <a:t>~ 300 k€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20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Revenu année 3 — croissance rentable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STRATÉGIE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Analyse SWOT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11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67528" cy="1993392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4910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E52"/>
                </a:solidFill>
                <a:latin typeface="Segoe UI"/>
              </a:rPr>
              <a:t>Forces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4910328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1er réseau social escalade indoor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Approche B2B2C (salles + grimpeurs)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Vidéos de méthode sur les blocs — unique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Stack moderne &amp; design system Kordo-UI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920240"/>
            <a:ext cx="5367528" cy="1993392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057400"/>
            <a:ext cx="4910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9711A"/>
                </a:solidFill>
                <a:latin typeface="Segoe UI"/>
              </a:rPr>
              <a:t>Faiblesses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468880"/>
            <a:ext cx="4910328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Équipe réduite, 0 traction commerciale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Pas de financement initial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Dépendance à l'adoption des salles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Notoriété nulle au démarrage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41648"/>
            <a:ext cx="5367528" cy="1993392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178808"/>
            <a:ext cx="4910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F78B5"/>
                </a:solidFill>
                <a:latin typeface="Segoe UI"/>
              </a:rPr>
              <a:t>Opportunités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590288"/>
            <a:ext cx="4910328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Marché +12 %/an, boost post-JO durable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Gen Z très tech-native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Peu de concurrents sur l'indoor social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SaaS B2B scalable (600+ salles FR)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4041648"/>
            <a:ext cx="5367528" cy="1993392"/>
          </a:xfrm>
          <a:prstGeom prst="roundRect">
            <a:avLst>
              <a:gd name="adj" fmla="val 8000"/>
            </a:avLst>
          </a:prstGeom>
          <a:solidFill>
            <a:srgbClr val="F1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4" y="4178808"/>
            <a:ext cx="4910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E57A8"/>
                </a:solidFill>
                <a:latin typeface="Segoe UI"/>
              </a:rPr>
              <a:t>Menaces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4590288"/>
            <a:ext cx="4910328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Strava / Arkose comblant la brique manquante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Instagram &amp; TikTok captent l'attention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Cycles d'acquisition B2B longs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RGPD sur les données sportives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PILOTAGE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Roadmap — vue d'ensemble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12 / 20</a:t>
            </a:r>
          </a:p>
        </p:txBody>
      </p:sp>
      <p:sp>
        <p:nvSpPr>
          <p:cNvPr id="8" name="Oval 7"/>
          <p:cNvSpPr/>
          <p:nvPr/>
        </p:nvSpPr>
        <p:spPr>
          <a:xfrm>
            <a:off x="1860804" y="2194560"/>
            <a:ext cx="164592" cy="164592"/>
          </a:xfrm>
          <a:prstGeom prst="ellipse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60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74320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Sprint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3154680"/>
            <a:ext cx="2276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Mars 2026 · Terminés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520440"/>
            <a:ext cx="22768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Init projet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Design System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Kordo-UI stable</a:t>
            </a:r>
          </a:p>
        </p:txBody>
      </p:sp>
      <p:sp>
        <p:nvSpPr>
          <p:cNvPr id="13" name="Oval 12"/>
          <p:cNvSpPr/>
          <p:nvPr/>
        </p:nvSpPr>
        <p:spPr>
          <a:xfrm>
            <a:off x="4640580" y="2194560"/>
            <a:ext cx="164592" cy="164592"/>
          </a:xfrm>
          <a:prstGeom prst="ellipse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9856" y="2560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274320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Sprint 3–4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154680"/>
            <a:ext cx="2276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Mar–Avr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520440"/>
            <a:ext cx="22768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Auth · Profil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Feed &amp; publications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Notifications</a:t>
            </a:r>
          </a:p>
        </p:txBody>
      </p:sp>
      <p:sp>
        <p:nvSpPr>
          <p:cNvPr id="18" name="Oval 17"/>
          <p:cNvSpPr/>
          <p:nvPr/>
        </p:nvSpPr>
        <p:spPr>
          <a:xfrm>
            <a:off x="7420356" y="2194560"/>
            <a:ext cx="164592" cy="164592"/>
          </a:xfrm>
          <a:prstGeom prst="ellipse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99632" y="2560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274320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Sprint 5–6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3154680"/>
            <a:ext cx="2276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Avr–Mai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3520440"/>
            <a:ext cx="22768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Indoor · blocs · vidéos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Classements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Messagerie · paramètres</a:t>
            </a:r>
          </a:p>
        </p:txBody>
      </p:sp>
      <p:sp>
        <p:nvSpPr>
          <p:cNvPr id="23" name="Oval 22"/>
          <p:cNvSpPr/>
          <p:nvPr/>
        </p:nvSpPr>
        <p:spPr>
          <a:xfrm>
            <a:off x="10200132" y="2194560"/>
            <a:ext cx="164592" cy="164592"/>
          </a:xfrm>
          <a:prstGeom prst="ellipse">
            <a:avLst/>
          </a:prstGeom>
          <a:solidFill>
            <a:srgbClr val="C05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79408" y="2560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2743200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MVP Launch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154680"/>
            <a:ext cx="2276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Juin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520440"/>
            <a:ext cx="22768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App Store + Play Store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3 salles pilotes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Monitoring &amp; RGPD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PILOTAGE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Méthode agile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13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3108960" cy="1280160"/>
          </a:xfrm>
          <a:prstGeom prst="roundRect">
            <a:avLst>
              <a:gd name="adj" fmla="val 8000"/>
            </a:avLst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Backlog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Épics &amp; user stories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331720"/>
            <a:ext cx="548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 i="0">
                <a:solidFill>
                  <a:srgbClr val="6B6B6B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103120"/>
            <a:ext cx="3108960" cy="1280160"/>
          </a:xfrm>
          <a:prstGeom prst="roundRect">
            <a:avLst>
              <a:gd name="adj" fmla="val 8000"/>
            </a:avLst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Sprint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Itérations de 2 semaines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331720"/>
            <a:ext cx="548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 i="0">
                <a:solidFill>
                  <a:srgbClr val="6B6B6B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103120"/>
            <a:ext cx="3108960" cy="1280160"/>
          </a:xfrm>
          <a:prstGeom prst="roundRect">
            <a:avLst>
              <a:gd name="adj" fmla="val 8000"/>
            </a:avLst>
          </a:prstGeom>
          <a:solidFill>
            <a:srgbClr val="3F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Tâches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Découpage &amp; réalisation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Priorisation et estimation structurées 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2443276" cy="50292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F6E52"/>
                </a:solidFill>
                <a:latin typeface="Segoe UI"/>
              </a:rPr>
              <a:t>MoSCoW (Critique → Faible)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6236" y="4297680"/>
            <a:ext cx="3200400" cy="50292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F6E52"/>
                </a:solidFill>
                <a:latin typeface="Segoe UI"/>
              </a:rPr>
              <a:t>Estimation Fibonacci (1·2·3·5·8·13)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49516" y="4297680"/>
            <a:ext cx="2359152" cy="50292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F6E52"/>
                </a:solidFill>
                <a:latin typeface="Segoe UI"/>
              </a:rPr>
              <a:t>Vélocité ~30 pts / sprint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91548" y="4297680"/>
            <a:ext cx="2611526" cy="50292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F6E52"/>
                </a:solidFill>
                <a:latin typeface="Segoe UI"/>
              </a:rPr>
              <a:t>25 user stories · 124 points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83480"/>
            <a:ext cx="2106777" cy="50292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F6E52"/>
                </a:solidFill>
                <a:latin typeface="Segoe UI"/>
              </a:rPr>
              <a:t>Dépendances explicites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PILOTAGE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Story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14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Parcours utilisateur (colonnes) × priorité (lignes). La ligne orange = frontière MVP.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240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ONBOARDING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5" y="2240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INDOOR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2240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FEED &amp; SOCIAL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6912" y="2240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7E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PROFIL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2240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3F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MESSAGES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4320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Inscription / Connexion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71215" y="274320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Liste salles + filtres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4064" y="274320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Fil d'actualité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274320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Profil public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0" y="274320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Notifications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218688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OAuth Google / Apple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71215" y="3218688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Blocs + validation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4064" y="3218688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Post·Message·Activité·Now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6912" y="3218688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Modifier profil + avatar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3218688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Messagerie 1:1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71215" y="3694176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Vidéos méthode · Classement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3694176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Like &amp; commentaire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6912" y="3694176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Follow / Abonnements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24528"/>
            <a:ext cx="10844784" cy="45720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8368" y="4370832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999999"/>
                </a:solidFill>
                <a:latin typeface="Segoe UI"/>
              </a:rPr>
              <a:t>Suppression compte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71215" y="4370832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999999"/>
                </a:solidFill>
                <a:latin typeface="Segoe UI"/>
              </a:rPr>
              <a:t>Check-in · Détection géoloc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4064" y="4370832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999999"/>
                </a:solidFill>
                <a:latin typeface="Segoe UI"/>
              </a:rPr>
              <a:t>Now auto · Résumé hebdo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96912" y="4370832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999999"/>
                </a:solidFill>
                <a:latin typeface="Segoe UI"/>
              </a:rPr>
              <a:t>Graphiques · Premium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60" y="4370832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999999"/>
                </a:solidFill>
                <a:latin typeface="Segoe UI"/>
              </a:rPr>
              <a:t>Appels · Événements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3776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1">
                <a:solidFill>
                  <a:srgbClr val="6B6B6B"/>
                </a:solidFill>
                <a:latin typeface="Segoe UI"/>
              </a:rPr>
              <a:t>Vert = MVP (S3–S6) · Gris = post-MVP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LE PÉRIMÈTRE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Le MVP : choisi vs reporté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15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67528" cy="502920"/>
          </a:xfrm>
          <a:prstGeom prst="roundRect">
            <a:avLst>
              <a:gd name="adj" fmla="val 8000"/>
            </a:avLst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  Dans le MVP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23160"/>
            <a:ext cx="5367528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9377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Auth email + Google / Apple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Profil public + modification &amp; avatar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Feed + 4 publications (Now manuel)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Like &amp; commentaire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Follow / unfollow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Notifications + messagerie (sans appel)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Salles + filtres · blocs + validation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Vidéos de méthode · classement salle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920240"/>
            <a:ext cx="5367528" cy="502920"/>
          </a:xfrm>
          <a:prstGeom prst="roundRect">
            <a:avLst>
              <a:gd name="adj" fmla="val 8000"/>
            </a:avLst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✗  Reporté (post-MVP)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423160"/>
            <a:ext cx="5367528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49377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Check-in dématérialisé + Now auto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Détection grimpeurs (Meet, géoloc)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Graphiques de progression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Badges &amp; trophées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Compte Premium B2C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Création d'événements · résumé hebdo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Mode sombre · multilingue · appels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Dashboard gérant (B2B)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908792" cy="731520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B9711A"/>
                </a:solidFill>
                <a:latin typeface="Segoe UI"/>
              </a:rPr>
              <a:t>Le vrai défi : couper des features d'un projet auquel on croit, pour livrer l'essentiel.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DÉVELOPPEMENT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Stack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16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73152" cy="960120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21991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React Native + Expo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39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Application mobile cross-platform iOS &amp; Android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103120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4256" y="2103120"/>
            <a:ext cx="73152" cy="960120"/>
          </a:xfrm>
          <a:prstGeom prst="rect">
            <a:avLst/>
          </a:prstGeom>
          <a:solidFill>
            <a:srgbClr val="3F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221991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TypeScript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606039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Typage strict de bout en bout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2103120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1" y="2103120"/>
            <a:ext cx="73152" cy="960120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221991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Supabase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06039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Auth · PostgreSQL · Realtime · Storage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264408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264408"/>
            <a:ext cx="73152" cy="960120"/>
          </a:xfrm>
          <a:prstGeom prst="rect">
            <a:avLst/>
          </a:prstGeom>
          <a:solidFill>
            <a:srgbClr val="7E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83279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expo-router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7673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Navigation par fichiers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34256" y="3264408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4256" y="3264408"/>
            <a:ext cx="73152" cy="960120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62856" y="3383279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Emotion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2856" y="37673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Styling cross-platform (native + web)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1" y="3264408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28431" y="3264408"/>
            <a:ext cx="73152" cy="960120"/>
          </a:xfrm>
          <a:prstGeom prst="rect">
            <a:avLst/>
          </a:prstGeom>
          <a:solidFill>
            <a:srgbClr val="3F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57031" y="3383279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pnpm monorepo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1" y="37673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core · kordo-ui · frontend · backend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425696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425696"/>
            <a:ext cx="73152" cy="960120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544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Kordo-UI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4928616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Design system atoms → organisms, Storybook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4256" y="4425696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4256" y="4425696"/>
            <a:ext cx="73152" cy="960120"/>
          </a:xfrm>
          <a:prstGeom prst="rect">
            <a:avLst/>
          </a:prstGeom>
          <a:solidFill>
            <a:srgbClr val="7E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62856" y="4544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Sentry · PostHog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2856" y="4928616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Monitoring &amp; analytics produit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DÉVELOPPEMENT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17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828800"/>
            <a:ext cx="3657600" cy="868680"/>
          </a:xfrm>
          <a:prstGeom prst="roundRect">
            <a:avLst>
              <a:gd name="adj" fmla="val 8000"/>
            </a:avLst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📱  Application mobile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Segoe UI"/>
              </a:rPr>
              <a:t>React Native + Expo · expo-router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0248" y="27889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↓  API REST · Realtime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3200400"/>
            <a:ext cx="3657600" cy="868680"/>
          </a:xfrm>
          <a:prstGeom prst="roundRect">
            <a:avLst>
              <a:gd name="adj" fmla="val 8000"/>
            </a:avLst>
          </a:prstGeom>
          <a:solidFill>
            <a:srgbClr val="3F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⚙  Supabase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Segoe UI"/>
              </a:rPr>
              <a:t>Auth · Realtime · Storage · Edge Functions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0248" y="41605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6B6B6B"/>
                </a:solidFill>
                <a:latin typeface="Segoe U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4526280"/>
            <a:ext cx="3657600" cy="868680"/>
          </a:xfrm>
          <a:prstGeom prst="roundRect">
            <a:avLst>
              <a:gd name="adj" fmla="val 8000"/>
            </a:avLst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🗄  PostgreSQL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Segoe UI"/>
              </a:rPr>
              <a:t>Users · Gyms · Boulders · Posts · Messages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623560"/>
            <a:ext cx="2606040" cy="6858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core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types domaine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5623560"/>
            <a:ext cx="2606040" cy="6858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kordo-ui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design system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5623560"/>
            <a:ext cx="2606040" cy="6858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frontend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app Expo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408" y="5623560"/>
            <a:ext cx="2606040" cy="6858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backend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API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RETOUR D'EXPÉRIENCE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Difficultés rencontrées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18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1090879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640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0902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94560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Les contraintes de temps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61518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Mener de front conception, design, architecture et développement en solo impose des arbitrages permanents sur le périmètre.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01568"/>
            <a:ext cx="1090879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675888"/>
            <a:ext cx="640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0902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584448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Réduire le périmètre du MVP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0050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Vouloir tout mettre dans le MVP. Couper des fonctionnalités d'un projet auquel on croit est difficile — apprendre à prioriser (MoSCoW, frontière MVP) a été clé.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91456"/>
            <a:ext cx="1090879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065776"/>
            <a:ext cx="640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0902F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97433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Un business model réaliste &amp; rentable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9496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Construire un modèle viable : équilibrer la valeur B2B (salles) et B2C (grimpeurs) pour quelque chose de crédible et rentable.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PLACE À LA PRATIQUE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Démo du MVP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19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2606040" cy="347472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Écran 1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Feed / publication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606040" cy="347472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Écran 2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Indoor / fiche bloc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285232" cy="173736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🎬  Démonstration 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9748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32323"/>
                </a:solidFill>
                <a:latin typeface="Segoe UI"/>
              </a:rPr>
              <a:t>Parcours : inscription → exploration d'une salle → validation d'un bloc → publication d'une activité → feed social.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931920"/>
            <a:ext cx="5285232" cy="155448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QR code / lien démo (optionnel)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6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5333695" cy="6858000"/>
          </a:xfrm>
          <a:prstGeom prst="rect">
            <a:avLst/>
          </a:prstGeom>
          <a:solidFill>
            <a:srgbClr val="3783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03120"/>
            <a:ext cx="121916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i="0">
                <a:solidFill>
                  <a:srgbClr val="FFFFFF"/>
                </a:solidFill>
                <a:latin typeface="Segoe UI"/>
              </a:rPr>
              <a:t>Merci 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0">
                <a:solidFill>
                  <a:srgbClr val="FFFFFF"/>
                </a:solidFill>
                <a:latin typeface="Segoe UI"/>
              </a:rPr>
              <a:t>Questions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6F2EC"/>
                </a:solidFill>
                <a:latin typeface="Segoe UI"/>
              </a:rPr>
              <a:t>Jacinto Valentino · M2 Développement — ECV Paris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5488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</a:rPr>
              <a:t>Kordo.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